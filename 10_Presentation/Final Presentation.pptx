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89" d="100"/>
          <a:sy n="89" d="100"/>
        </p:scale>
        <p:origin x="-403" y="2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33272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E-COMMERCE SALES &amp; CUSTOMER</a:t>
            </a:r>
            <a:br/>
            <a:r>
              <a:t>ANALYTICS SYSTEM</a:t>
            </a:r>
          </a:p>
          <a:p>
            <a:pPr algn="ctr">
              <a:defRPr sz="2000">
                <a:solidFill>
                  <a:srgbClr val="DCE6F0"/>
                </a:solidFill>
              </a:defRPr>
            </a:pPr>
            <a:r>
              <a:t>Final Business Analytics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886200"/>
            <a:ext cx="6675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Prepared By: Srijan Poudel</a:t>
            </a:r>
          </a:p>
          <a:p>
            <a:pPr algn="ctr"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Data Analytics Intern • SATRI</a:t>
            </a:r>
          </a:p>
          <a:p>
            <a:pPr algn="ctr"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Excel • PostgreSQL • Python/Pandas • Power BI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3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81360" y="6638544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</a:defRPr>
            </a:pPr>
            <a:r>
              <a:t>Business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8"/>
                </a:solidFill>
              </a:defRPr>
            </a:pPr>
            <a:r>
              <a:t>What management needs to understand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100">
                <a:solidFill>
                  <a:srgbClr val="282828"/>
                </a:solidFill>
              </a:defRPr>
            </a:pPr>
            <a:r>
              <a:t>• What is driving sales and profit?</a:t>
            </a:r>
          </a:p>
          <a:p>
            <a:pPr>
              <a:spcAft>
                <a:spcPts val="1500"/>
              </a:spcAft>
              <a:defRPr sz="2100">
                <a:solidFill>
                  <a:srgbClr val="282828"/>
                </a:solidFill>
              </a:defRPr>
            </a:pPr>
            <a:r>
              <a:t>• Which products and categories perform well or poorly?</a:t>
            </a:r>
          </a:p>
          <a:p>
            <a:pPr>
              <a:spcAft>
                <a:spcPts val="1500"/>
              </a:spcAft>
              <a:defRPr sz="2100">
                <a:solidFill>
                  <a:srgbClr val="282828"/>
                </a:solidFill>
              </a:defRPr>
            </a:pPr>
            <a:r>
              <a:t>• Which customers provide greater value?</a:t>
            </a:r>
          </a:p>
          <a:p>
            <a:pPr>
              <a:spcAft>
                <a:spcPts val="1500"/>
              </a:spcAft>
              <a:defRPr sz="2100">
                <a:solidFill>
                  <a:srgbClr val="282828"/>
                </a:solidFill>
              </a:defRPr>
            </a:pPr>
            <a:r>
              <a:t>• How do regions differ in sales and profitability?</a:t>
            </a:r>
          </a:p>
          <a:p>
            <a:pPr>
              <a:spcAft>
                <a:spcPts val="1500"/>
              </a:spcAft>
              <a:defRPr sz="2100">
                <a:solidFill>
                  <a:srgbClr val="282828"/>
                </a:solidFill>
              </a:defRPr>
            </a:pPr>
            <a:r>
              <a:t>• How are discounts related to sales and profit?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3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81360" y="6638544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</a:defRPr>
            </a:pPr>
            <a:r>
              <a:t>Objectives &amp; Analytics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5303520" cy="105156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59" y="1435607"/>
            <a:ext cx="4937759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75B5"/>
                </a:solidFill>
              </a:defRPr>
            </a:pPr>
            <a:r>
              <a:t>OBJECTIVES</a:t>
            </a:r>
          </a:p>
          <a:p>
            <a:pPr>
              <a:defRPr sz="2000" b="1">
                <a:solidFill>
                  <a:srgbClr val="1F3750"/>
                </a:solidFill>
              </a:defRPr>
            </a:pPr>
            <a:r>
              <a:t>Sales • Profit • Customers</a:t>
            </a:r>
          </a:p>
          <a:p>
            <a:pPr>
              <a:defRPr sz="1000">
                <a:solidFill>
                  <a:srgbClr val="282828"/>
                </a:solidFill>
              </a:defRPr>
            </a:pPr>
            <a:r>
              <a:t>Products, regions, trends, discounts and business recommendations.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06040"/>
            <a:ext cx="5303520" cy="105156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2715768"/>
            <a:ext cx="4937759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439664"/>
                </a:solidFill>
              </a:defRPr>
            </a:pPr>
            <a:r>
              <a:t>OUTPUT</a:t>
            </a:r>
          </a:p>
          <a:p>
            <a:pPr>
              <a:defRPr sz="2000" b="1">
                <a:solidFill>
                  <a:srgbClr val="1F3750"/>
                </a:solidFill>
              </a:defRPr>
            </a:pPr>
            <a:r>
              <a:t>Interactive Power BI Dashboard</a:t>
            </a:r>
          </a:p>
          <a:p>
            <a:pPr>
              <a:defRPr sz="1000">
                <a:solidFill>
                  <a:srgbClr val="282828"/>
                </a:solidFill>
              </a:defRPr>
            </a:pPr>
            <a:r>
              <a:t>Evidence-based insights and management recommendations.</a:t>
            </a:r>
          </a:p>
        </p:txBody>
      </p:sp>
      <p:sp>
        <p:nvSpPr>
          <p:cNvPr id="8" name="Oval 7"/>
          <p:cNvSpPr/>
          <p:nvPr/>
        </p:nvSpPr>
        <p:spPr>
          <a:xfrm>
            <a:off x="6400800" y="1508760"/>
            <a:ext cx="502920" cy="502920"/>
          </a:xfrm>
          <a:prstGeom prst="ellipse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214884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F3750"/>
                </a:solidFill>
              </a:defRPr>
            </a:pPr>
            <a:r>
              <a:t>Excel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2606040"/>
            <a:ext cx="137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6E78"/>
                </a:solidFill>
              </a:defRPr>
            </a:pPr>
            <a:r>
              <a:t>Understand &amp; clean</a:t>
            </a:r>
          </a:p>
        </p:txBody>
      </p:sp>
      <p:sp>
        <p:nvSpPr>
          <p:cNvPr id="11" name="Oval 10"/>
          <p:cNvSpPr/>
          <p:nvPr/>
        </p:nvSpPr>
        <p:spPr>
          <a:xfrm>
            <a:off x="7726679" y="1508760"/>
            <a:ext cx="502920" cy="502920"/>
          </a:xfrm>
          <a:prstGeom prst="ellipse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52359" y="214884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F3750"/>
                </a:solidFill>
              </a:defRPr>
            </a:pPr>
            <a:r>
              <a:t>PostgreSQL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9" y="2606040"/>
            <a:ext cx="137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6E78"/>
                </a:solidFill>
              </a:defRPr>
            </a:pPr>
            <a:r>
              <a:t>Business SQL analysis</a:t>
            </a:r>
          </a:p>
        </p:txBody>
      </p:sp>
      <p:sp>
        <p:nvSpPr>
          <p:cNvPr id="14" name="Oval 13"/>
          <p:cNvSpPr/>
          <p:nvPr/>
        </p:nvSpPr>
        <p:spPr>
          <a:xfrm>
            <a:off x="9052560" y="1508760"/>
            <a:ext cx="502920" cy="502920"/>
          </a:xfrm>
          <a:prstGeom prst="ellipse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78240" y="214884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F3750"/>
                </a:solidFill>
              </a:defRPr>
            </a:pPr>
            <a:r>
              <a:t>Python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606040"/>
            <a:ext cx="137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6E78"/>
                </a:solidFill>
              </a:defRPr>
            </a:pPr>
            <a:r>
              <a:t>EDA &amp; statistics</a:t>
            </a:r>
          </a:p>
        </p:txBody>
      </p:sp>
      <p:sp>
        <p:nvSpPr>
          <p:cNvPr id="17" name="Oval 16"/>
          <p:cNvSpPr/>
          <p:nvPr/>
        </p:nvSpPr>
        <p:spPr>
          <a:xfrm>
            <a:off x="10378440" y="1508760"/>
            <a:ext cx="502920" cy="502920"/>
          </a:xfrm>
          <a:prstGeom prst="ellipse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104119" y="214884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F3750"/>
                </a:solidFill>
              </a:defRPr>
            </a:pPr>
            <a:r>
              <a:t>Power 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60" y="2606040"/>
            <a:ext cx="137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6E78"/>
                </a:solidFill>
              </a:defRPr>
            </a:pPr>
            <a:r>
              <a:t>Dashboard &amp; reporting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3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881360" y="6638544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</a:defRPr>
            </a:pPr>
            <a:r>
              <a:t>Dataset &amp; Data Quality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1828800" cy="105156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73152" cy="105156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1" y="1472184"/>
            <a:ext cx="155448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E78"/>
                </a:solidFill>
              </a:defRPr>
            </a:pPr>
            <a:r>
              <a:t>Records</a:t>
            </a:r>
          </a:p>
          <a:p>
            <a:pPr>
              <a:defRPr sz="2200" b="1">
                <a:solidFill>
                  <a:srgbClr val="1F3750"/>
                </a:solidFill>
              </a:defRPr>
            </a:pPr>
            <a:r>
              <a:t>9,994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325880"/>
            <a:ext cx="1828800" cy="105156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0" y="1325880"/>
            <a:ext cx="73152" cy="1051560"/>
          </a:xfrm>
          <a:prstGeom prst="rect">
            <a:avLst/>
          </a:prstGeom>
          <a:solidFill>
            <a:srgbClr val="43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07792" y="1472184"/>
            <a:ext cx="155448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E78"/>
                </a:solidFill>
              </a:defRPr>
            </a:pPr>
            <a:r>
              <a:t>Customers</a:t>
            </a:r>
          </a:p>
          <a:p>
            <a:pPr>
              <a:defRPr sz="2200" b="1">
                <a:solidFill>
                  <a:srgbClr val="1F3750"/>
                </a:solidFill>
              </a:defRPr>
            </a:pPr>
            <a:r>
              <a:t>793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1325880"/>
            <a:ext cx="1828800" cy="105156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846320" y="1325880"/>
            <a:ext cx="73152" cy="105156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10912" y="1472184"/>
            <a:ext cx="155448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E78"/>
                </a:solidFill>
              </a:defRPr>
            </a:pPr>
            <a:r>
              <a:t>Products</a:t>
            </a:r>
          </a:p>
          <a:p>
            <a:pPr>
              <a:defRPr sz="2200" b="1">
                <a:solidFill>
                  <a:srgbClr val="1F3750"/>
                </a:solidFill>
              </a:defRPr>
            </a:pPr>
            <a:r>
              <a:t>1,862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1325880"/>
            <a:ext cx="1828800" cy="105156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949440" y="1325880"/>
            <a:ext cx="73152" cy="105156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14031" y="1472184"/>
            <a:ext cx="155448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E78"/>
                </a:solidFill>
              </a:defRPr>
            </a:pPr>
            <a:r>
              <a:t>Categories</a:t>
            </a:r>
          </a:p>
          <a:p>
            <a:pPr>
              <a:defRPr sz="2200" b="1">
                <a:solidFill>
                  <a:srgbClr val="1F3750"/>
                </a:solidFill>
              </a:defRPr>
            </a:pPr>
            <a: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325880"/>
            <a:ext cx="1828800" cy="105156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52560" y="1325880"/>
            <a:ext cx="73152" cy="1051560"/>
          </a:xfrm>
          <a:prstGeom prst="rect">
            <a:avLst/>
          </a:prstGeom>
          <a:solidFill>
            <a:srgbClr val="43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17152" y="1472184"/>
            <a:ext cx="155448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E78"/>
                </a:solidFill>
              </a:defRPr>
            </a:pPr>
            <a:r>
              <a:t>Regions</a:t>
            </a:r>
          </a:p>
          <a:p>
            <a:pPr>
              <a:defRPr sz="2200" b="1">
                <a:solidFill>
                  <a:srgbClr val="1F3750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7432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282828"/>
                </a:solidFill>
              </a:defRPr>
            </a:pPr>
            <a:r>
              <a:t>• Coverage: January 2014 – December 2017</a:t>
            </a:r>
          </a:p>
          <a:p>
            <a:pPr>
              <a:spcAft>
                <a:spcPts val="1500"/>
              </a:spcAft>
              <a:defRPr sz="1700">
                <a:solidFill>
                  <a:srgbClr val="282828"/>
                </a:solidFill>
              </a:defRPr>
            </a:pPr>
            <a:r>
              <a:t>• 21 columns covering orders, customers, products, sales, discounts, profit and regions</a:t>
            </a:r>
          </a:p>
          <a:p>
            <a:pPr>
              <a:spcAft>
                <a:spcPts val="1500"/>
              </a:spcAft>
              <a:defRPr sz="1700">
                <a:solidFill>
                  <a:srgbClr val="282828"/>
                </a:solidFill>
              </a:defRPr>
            </a:pPr>
            <a:r>
              <a:t>• No missing values and no duplicate full rows</a:t>
            </a:r>
          </a:p>
          <a:p>
            <a:pPr>
              <a:spcAft>
                <a:spcPts val="1500"/>
              </a:spcAft>
              <a:defRPr sz="1700">
                <a:solidFill>
                  <a:srgbClr val="282828"/>
                </a:solidFill>
              </a:defRPr>
            </a:pPr>
            <a:r>
              <a:t>• Dates and numeric fields validated; invalid basic records were not identified</a:t>
            </a:r>
          </a:p>
          <a:p>
            <a:pPr>
              <a:spcAft>
                <a:spcPts val="1500"/>
              </a:spcAft>
              <a:defRPr sz="1700">
                <a:solidFill>
                  <a:srgbClr val="282828"/>
                </a:solidFill>
              </a:defRPr>
            </a:pPr>
            <a:r>
              <a:t>• Potential IQR outliers were documented rather than automatically removed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3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881360" y="6638544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</a:defRPr>
            </a:pPr>
            <a:r>
              <a:t>Overall Business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8"/>
                </a:solidFill>
              </a:defRPr>
            </a:pPr>
            <a:r>
              <a:t>Key KPIs from the analyzed dataset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3337560" cy="132588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73152" cy="132588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563624"/>
            <a:ext cx="30632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E78"/>
                </a:solidFill>
              </a:defRPr>
            </a:pPr>
            <a:r>
              <a:t>Total Sales</a:t>
            </a:r>
          </a:p>
          <a:p>
            <a:pPr>
              <a:defRPr sz="2200" b="1">
                <a:solidFill>
                  <a:srgbClr val="1F3750"/>
                </a:solidFill>
              </a:defRPr>
            </a:pPr>
            <a:r>
              <a:t>$2.30M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417320"/>
            <a:ext cx="3337560" cy="132588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434840" y="1417320"/>
            <a:ext cx="73152" cy="1325880"/>
          </a:xfrm>
          <a:prstGeom prst="rect">
            <a:avLst/>
          </a:prstGeom>
          <a:solidFill>
            <a:srgbClr val="43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99431" y="1563624"/>
            <a:ext cx="30632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E78"/>
                </a:solidFill>
              </a:defRPr>
            </a:pPr>
            <a:r>
              <a:t>Total Profit</a:t>
            </a:r>
          </a:p>
          <a:p>
            <a:pPr>
              <a:defRPr sz="2200" b="1">
                <a:solidFill>
                  <a:srgbClr val="1F3750"/>
                </a:solidFill>
              </a:defRPr>
            </a:pPr>
            <a:r>
              <a:t>$286.40K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337560" cy="132588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138160" y="1417320"/>
            <a:ext cx="73152" cy="132588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02752" y="1563624"/>
            <a:ext cx="30632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E78"/>
                </a:solidFill>
              </a:defRPr>
            </a:pPr>
            <a:r>
              <a:t>Orders</a:t>
            </a:r>
          </a:p>
          <a:p>
            <a:pPr>
              <a:defRPr sz="2200" b="1">
                <a:solidFill>
                  <a:srgbClr val="1F3750"/>
                </a:solidFill>
              </a:defRPr>
            </a:pPr>
            <a:r>
              <a:t>5,009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46120"/>
            <a:ext cx="3337560" cy="132588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1520" y="3246120"/>
            <a:ext cx="73152" cy="132588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6112" y="3392424"/>
            <a:ext cx="30632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E78"/>
                </a:solidFill>
              </a:defRPr>
            </a:pPr>
            <a:r>
              <a:t>Customers</a:t>
            </a:r>
          </a:p>
          <a:p>
            <a:pPr>
              <a:defRPr sz="2200" b="1">
                <a:solidFill>
                  <a:srgbClr val="1F3750"/>
                </a:solidFill>
              </a:defRPr>
            </a:pPr>
            <a:r>
              <a:t>793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3246120"/>
            <a:ext cx="3337560" cy="132588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434840" y="3246120"/>
            <a:ext cx="73152" cy="1325880"/>
          </a:xfrm>
          <a:prstGeom prst="rect">
            <a:avLst/>
          </a:prstGeom>
          <a:solidFill>
            <a:srgbClr val="43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9431" y="3392424"/>
            <a:ext cx="30632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E78"/>
                </a:solidFill>
              </a:defRPr>
            </a:pPr>
            <a:r>
              <a:t>Average Order Value</a:t>
            </a:r>
          </a:p>
          <a:p>
            <a:pPr>
              <a:defRPr sz="2200" b="1">
                <a:solidFill>
                  <a:srgbClr val="1F3750"/>
                </a:solidFill>
              </a:defRPr>
            </a:pPr>
            <a:r>
              <a:t>$458.61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246120"/>
            <a:ext cx="3337560" cy="132588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38160" y="3246120"/>
            <a:ext cx="73152" cy="1325880"/>
          </a:xfrm>
          <a:prstGeom prst="rect">
            <a:avLst/>
          </a:prstGeom>
          <a:solidFill>
            <a:srgbClr val="BE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02752" y="3392424"/>
            <a:ext cx="30632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E78"/>
                </a:solidFill>
              </a:defRPr>
            </a:pPr>
            <a:r>
              <a:t>Profit Margin</a:t>
            </a:r>
          </a:p>
          <a:p>
            <a:pPr>
              <a:defRPr sz="2200" b="1">
                <a:solidFill>
                  <a:srgbClr val="1F3750"/>
                </a:solidFill>
              </a:defRPr>
            </a:pPr>
            <a:r>
              <a:t>12.47%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3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881360" y="6638544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</a:defRPr>
            </a:pPr>
            <a:r>
              <a:t>Sales &amp; Category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3291840" cy="141732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435607"/>
            <a:ext cx="292608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75B5"/>
                </a:solidFill>
              </a:defRPr>
            </a:pPr>
            <a:r>
              <a:t>SALES TREND</a:t>
            </a:r>
          </a:p>
          <a:p>
            <a:pPr>
              <a:defRPr sz="2000" b="1">
                <a:solidFill>
                  <a:srgbClr val="1F3750"/>
                </a:solidFill>
              </a:defRPr>
            </a:pPr>
            <a:r>
              <a:t>$484K → $733K</a:t>
            </a:r>
          </a:p>
          <a:p>
            <a:pPr>
              <a:defRPr sz="1000">
                <a:solidFill>
                  <a:srgbClr val="282828"/>
                </a:solidFill>
              </a:defRPr>
            </a:pPr>
            <a:r>
              <a:t>Annual sales increased from 2014 to 2017.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325880"/>
            <a:ext cx="3291840" cy="141732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617720" y="1435607"/>
            <a:ext cx="292608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439664"/>
                </a:solidFill>
              </a:defRPr>
            </a:pPr>
            <a:r>
              <a:t>TOP CATEGORY</a:t>
            </a:r>
          </a:p>
          <a:p>
            <a:pPr>
              <a:defRPr sz="2000" b="1">
                <a:solidFill>
                  <a:srgbClr val="1F3750"/>
                </a:solidFill>
              </a:defRPr>
            </a:pPr>
            <a:r>
              <a:t>Technology</a:t>
            </a:r>
          </a:p>
          <a:p>
            <a:pPr>
              <a:defRPr sz="1000">
                <a:solidFill>
                  <a:srgbClr val="282828"/>
                </a:solidFill>
              </a:defRPr>
            </a:pPr>
            <a:r>
              <a:t>Highest category sales and profit.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325880"/>
            <a:ext cx="3291840" cy="141732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0" y="1435607"/>
            <a:ext cx="292608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E69138"/>
                </a:solidFill>
              </a:defRPr>
            </a:pPr>
            <a:r>
              <a:t>WATCH</a:t>
            </a:r>
          </a:p>
          <a:p>
            <a:pPr>
              <a:defRPr sz="2000" b="1">
                <a:solidFill>
                  <a:srgbClr val="1F3750"/>
                </a:solidFill>
              </a:defRPr>
            </a:pPr>
            <a:r>
              <a:t>Furniture • 2.49%</a:t>
            </a:r>
          </a:p>
          <a:p>
            <a:pPr>
              <a:defRPr sz="1000">
                <a:solidFill>
                  <a:srgbClr val="282828"/>
                </a:solidFill>
              </a:defRPr>
            </a:pPr>
            <a:r>
              <a:t>Substantial sales but much lower profit margin.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282828"/>
                </a:solidFill>
              </a:defRPr>
            </a:pPr>
            <a:r>
              <a:t>• 2014 sales: approximately $484,248</a:t>
            </a:r>
          </a:p>
          <a:p>
            <a:pPr>
              <a:spcAft>
                <a:spcPts val="1500"/>
              </a:spcAft>
              <a:defRPr sz="1800">
                <a:solidFill>
                  <a:srgbClr val="282828"/>
                </a:solidFill>
              </a:defRPr>
            </a:pPr>
            <a:r>
              <a:t>• 2017 sales: approximately $733,215</a:t>
            </a:r>
          </a:p>
          <a:p>
            <a:pPr>
              <a:spcAft>
                <a:spcPts val="1500"/>
              </a:spcAft>
              <a:defRPr sz="1800">
                <a:solidFill>
                  <a:srgbClr val="282828"/>
                </a:solidFill>
              </a:defRPr>
            </a:pPr>
            <a:r>
              <a:t>• Technology sales: approximately $836,154</a:t>
            </a:r>
          </a:p>
          <a:p>
            <a:pPr>
              <a:spcAft>
                <a:spcPts val="1500"/>
              </a:spcAft>
              <a:defRPr sz="1800">
                <a:solidFill>
                  <a:srgbClr val="282828"/>
                </a:solidFill>
              </a:defRPr>
            </a:pPr>
            <a:r>
              <a:t>• Furniture sales: approximately $742,000, but only 2.49% profit margin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3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881360" y="6638544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</a:defRPr>
            </a:pPr>
            <a:r>
              <a:t>Product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8"/>
                </a:solidFill>
              </a:defRPr>
            </a:pPr>
            <a:r>
              <a:t>Sales volume does not always equal profitability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212080" cy="141732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435607"/>
            <a:ext cx="484632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75B5"/>
                </a:solidFill>
              </a:defRPr>
            </a:pPr>
            <a:r>
              <a:t>TOP PRODUCT</a:t>
            </a:r>
          </a:p>
          <a:p>
            <a:pPr>
              <a:defRPr sz="2000" b="1">
                <a:solidFill>
                  <a:srgbClr val="1F3750"/>
                </a:solidFill>
              </a:defRPr>
            </a:pPr>
            <a:r>
              <a:t>Canon imageCLASS 2200 Advanced Copier</a:t>
            </a:r>
          </a:p>
          <a:p>
            <a:pPr>
              <a:defRPr sz="1000">
                <a:solidFill>
                  <a:srgbClr val="282828"/>
                </a:solidFill>
              </a:defRPr>
            </a:pPr>
            <a:r>
              <a:t>Highest-selling product and also highly profitable.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325880"/>
            <a:ext cx="5212080" cy="141732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46520" y="1435607"/>
            <a:ext cx="484632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BE4646"/>
                </a:solidFill>
              </a:defRPr>
            </a:pPr>
            <a:r>
              <a:t>SALES ≠ PROFIT</a:t>
            </a:r>
          </a:p>
          <a:p>
            <a:pPr>
              <a:defRPr sz="2000" b="1">
                <a:solidFill>
                  <a:srgbClr val="1F3750"/>
                </a:solidFill>
              </a:defRPr>
            </a:pPr>
            <a:r>
              <a:t>Cisco TelePresence EX90</a:t>
            </a:r>
          </a:p>
          <a:p>
            <a:pPr>
              <a:defRPr sz="1000">
                <a:solidFill>
                  <a:srgbClr val="282828"/>
                </a:solidFill>
              </a:defRPr>
            </a:pPr>
            <a:r>
              <a:t>~$22.6K sales but ~-$1.81K profit.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282828"/>
                </a:solidFill>
              </a:defRPr>
            </a:pPr>
            <a:r>
              <a:t>• Cubify CubeX Double Head Print: ~-$8.88K profit</a:t>
            </a:r>
          </a:p>
          <a:p>
            <a:pPr>
              <a:spcAft>
                <a:spcPts val="1500"/>
              </a:spcAft>
              <a:defRPr sz="1700">
                <a:solidFill>
                  <a:srgbClr val="282828"/>
                </a:solidFill>
              </a:defRPr>
            </a:pPr>
            <a:r>
              <a:t>• Lexmark MX611dhe Monochrome Laser Printer: ~-$4.59K</a:t>
            </a:r>
          </a:p>
          <a:p>
            <a:pPr>
              <a:spcAft>
                <a:spcPts val="1500"/>
              </a:spcAft>
              <a:defRPr sz="1700">
                <a:solidFill>
                  <a:srgbClr val="282828"/>
                </a:solidFill>
              </a:defRPr>
            </a:pPr>
            <a:r>
              <a:t>• Cubify CubeX Triple Head Print: ~-$3.84K</a:t>
            </a:r>
          </a:p>
          <a:p>
            <a:pPr>
              <a:spcAft>
                <a:spcPts val="1500"/>
              </a:spcAft>
              <a:defRPr sz="1700">
                <a:solidFill>
                  <a:srgbClr val="282828"/>
                </a:solidFill>
              </a:defRPr>
            </a:pPr>
            <a:r>
              <a:t>• Product-level profitability should be monitored alongside sales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3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881360" y="6638544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</a:defRPr>
            </a:pPr>
            <a:r>
              <a:t>Customer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8"/>
                </a:solidFill>
              </a:defRPr>
            </a:pPr>
            <a:r>
              <a:t>Understanding customer value beyond sales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2423160" cy="118872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73152" cy="118872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472184"/>
            <a:ext cx="2148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E78"/>
                </a:solidFill>
              </a:defRPr>
            </a:pPr>
            <a:r>
              <a:t>Unique Customers</a:t>
            </a:r>
          </a:p>
          <a:p>
            <a:pPr>
              <a:defRPr sz="2200" b="1">
                <a:solidFill>
                  <a:srgbClr val="1F3750"/>
                </a:solidFill>
              </a:defRPr>
            </a:pPr>
            <a:r>
              <a:t>793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325880"/>
            <a:ext cx="2423160" cy="118872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74720" y="1325880"/>
            <a:ext cx="73152" cy="1188720"/>
          </a:xfrm>
          <a:prstGeom prst="rect">
            <a:avLst/>
          </a:prstGeom>
          <a:solidFill>
            <a:srgbClr val="43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39312" y="1472184"/>
            <a:ext cx="2148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E78"/>
                </a:solidFill>
              </a:defRPr>
            </a:pPr>
            <a:r>
              <a:t>Repeat Customers</a:t>
            </a:r>
          </a:p>
          <a:p>
            <a:pPr>
              <a:defRPr sz="2200" b="1">
                <a:solidFill>
                  <a:srgbClr val="1F3750"/>
                </a:solidFill>
              </a:defRPr>
            </a:pPr>
            <a:r>
              <a:t>781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25880"/>
            <a:ext cx="2423160" cy="118872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325880"/>
            <a:ext cx="73152" cy="118872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82512" y="1472184"/>
            <a:ext cx="2148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E78"/>
                </a:solidFill>
              </a:defRPr>
            </a:pPr>
            <a:r>
              <a:t>One-time Customers</a:t>
            </a:r>
          </a:p>
          <a:p>
            <a:pPr>
              <a:defRPr sz="2200" b="1">
                <a:solidFill>
                  <a:srgbClr val="1F3750"/>
                </a:solidFill>
              </a:defRPr>
            </a:pPr>
            <a:r>
              <a:t>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325880"/>
            <a:ext cx="2423160" cy="118872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961120" y="1325880"/>
            <a:ext cx="73152" cy="118872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25712" y="1472184"/>
            <a:ext cx="2148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E78"/>
                </a:solidFill>
              </a:defRPr>
            </a:pPr>
            <a:r>
              <a:t>Repeat Rate</a:t>
            </a:r>
          </a:p>
          <a:p>
            <a:pPr>
              <a:defRPr sz="2200" b="1">
                <a:solidFill>
                  <a:srgbClr val="1F3750"/>
                </a:solidFill>
              </a:defRPr>
            </a:pPr>
            <a:r>
              <a:t>98.49%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632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282828"/>
                </a:solidFill>
              </a:defRPr>
            </a:pPr>
            <a:r>
              <a:t>• Average customer spend: approximately $2,896.85</a:t>
            </a:r>
          </a:p>
          <a:p>
            <a:pPr>
              <a:spcAft>
                <a:spcPts val="1500"/>
              </a:spcAft>
              <a:defRPr sz="1800">
                <a:solidFill>
                  <a:srgbClr val="282828"/>
                </a:solidFill>
              </a:defRPr>
            </a:pPr>
            <a:r>
              <a:t>• High customer sales value does not necessarily imply high profitability</a:t>
            </a:r>
          </a:p>
          <a:p>
            <a:pPr>
              <a:spcAft>
                <a:spcPts val="1500"/>
              </a:spcAft>
              <a:defRPr sz="1800">
                <a:solidFill>
                  <a:srgbClr val="282828"/>
                </a:solidFill>
              </a:defRPr>
            </a:pPr>
            <a:r>
              <a:t>• Sean Miller had approximately $25,043 sales but recorded approximately $1,981 loss</a:t>
            </a:r>
          </a:p>
          <a:p>
            <a:pPr>
              <a:spcAft>
                <a:spcPts val="1500"/>
              </a:spcAft>
              <a:defRPr sz="1800">
                <a:solidFill>
                  <a:srgbClr val="282828"/>
                </a:solidFill>
              </a:defRPr>
            </a:pPr>
            <a:r>
              <a:t>• Customer evaluation should consider both sales and profit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3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881360" y="6638544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</a:defRPr>
            </a:pPr>
            <a:r>
              <a:t>Regional &amp; Discount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3474720" cy="150876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59" y="1389888"/>
            <a:ext cx="31089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75B5"/>
                </a:solidFill>
              </a:defRPr>
            </a:pPr>
            <a:r>
              <a:t>WEST</a:t>
            </a:r>
          </a:p>
          <a:p>
            <a:pPr>
              <a:defRPr sz="2000" b="1">
                <a:solidFill>
                  <a:srgbClr val="1F3750"/>
                </a:solidFill>
              </a:defRPr>
            </a:pPr>
            <a:r>
              <a:t>$725K Sales • $108K Profit</a:t>
            </a:r>
          </a:p>
          <a:p>
            <a:pPr>
              <a:defRPr sz="1000">
                <a:solidFill>
                  <a:srgbClr val="282828"/>
                </a:solidFill>
              </a:defRPr>
            </a:pPr>
            <a:r>
              <a:t>Highest sales and profit among the four regions.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280160"/>
            <a:ext cx="3474720" cy="150876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26280" y="1389888"/>
            <a:ext cx="31089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E69138"/>
                </a:solidFill>
              </a:defRPr>
            </a:pPr>
            <a:r>
              <a:t>CENTRAL</a:t>
            </a:r>
          </a:p>
          <a:p>
            <a:pPr>
              <a:defRPr sz="2000" b="1">
                <a:solidFill>
                  <a:srgbClr val="1F3750"/>
                </a:solidFill>
              </a:defRPr>
            </a:pPr>
            <a:r>
              <a:t>7.92% Margin</a:t>
            </a:r>
          </a:p>
          <a:p>
            <a:pPr>
              <a:defRPr sz="1000">
                <a:solidFill>
                  <a:srgbClr val="282828"/>
                </a:solidFill>
              </a:defRPr>
            </a:pPr>
            <a:r>
              <a:t>Lowest regional profit margin.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280160"/>
            <a:ext cx="3474720" cy="150876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1389888"/>
            <a:ext cx="31089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BE4646"/>
                </a:solidFill>
              </a:defRPr>
            </a:pPr>
            <a:r>
              <a:t>HIGH DISCOUNTS</a:t>
            </a:r>
          </a:p>
          <a:p>
            <a:pPr>
              <a:defRPr sz="2000" b="1">
                <a:solidFill>
                  <a:srgbClr val="1F3750"/>
                </a:solidFill>
              </a:defRPr>
            </a:pPr>
            <a:r>
              <a:t>Negative Profit</a:t>
            </a:r>
          </a:p>
          <a:p>
            <a:pPr>
              <a:defRPr sz="1000">
                <a:solidFill>
                  <a:srgbClr val="282828"/>
                </a:solidFill>
              </a:defRPr>
            </a:pPr>
            <a:r>
              <a:t>Several high-discount groups recorded negative aggregate profit.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461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600">
                <a:solidFill>
                  <a:srgbClr val="282828"/>
                </a:solidFill>
              </a:defRPr>
            </a:pPr>
            <a:r>
              <a:t>• West margin: 14.94% • East: 13.48% • South: 11.93% • Central: 7.92%</a:t>
            </a:r>
          </a:p>
          <a:p>
            <a:pPr>
              <a:spcAft>
                <a:spcPts val="1500"/>
              </a:spcAft>
              <a:defRPr sz="1600">
                <a:solidFill>
                  <a:srgbClr val="282828"/>
                </a:solidFill>
              </a:defRPr>
            </a:pPr>
            <a:r>
              <a:t>• 70% discount group: approximately -$40,075 profit</a:t>
            </a:r>
          </a:p>
          <a:p>
            <a:pPr>
              <a:spcAft>
                <a:spcPts val="1500"/>
              </a:spcAft>
              <a:defRPr sz="1600">
                <a:solidFill>
                  <a:srgbClr val="282828"/>
                </a:solidFill>
              </a:defRPr>
            </a:pPr>
            <a:r>
              <a:t>• 80% discount group: approximately -$30,539 profit</a:t>
            </a:r>
          </a:p>
          <a:p>
            <a:pPr>
              <a:spcAft>
                <a:spcPts val="1500"/>
              </a:spcAft>
              <a:defRPr sz="1600">
                <a:solidFill>
                  <a:srgbClr val="282828"/>
                </a:solidFill>
              </a:defRPr>
            </a:pPr>
            <a:r>
              <a:t>• Discount and profit show a negative relationship in the historical dataset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3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881360" y="6638544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</a:defRPr>
            </a:pPr>
            <a:r>
              <a:t>Statistical &amp; Correlation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2514600" cy="118872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73152" cy="118872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472184"/>
            <a:ext cx="2240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E78"/>
                </a:solidFill>
              </a:defRPr>
            </a:pPr>
            <a:r>
              <a:t>Sales Median</a:t>
            </a:r>
          </a:p>
          <a:p>
            <a:pPr>
              <a:defRPr sz="2200" b="1">
                <a:solidFill>
                  <a:srgbClr val="1F3750"/>
                </a:solidFill>
              </a:defRPr>
            </a:pPr>
            <a:r>
              <a:t>$54.49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39" y="1325880"/>
            <a:ext cx="2514600" cy="118872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520439" y="1325880"/>
            <a:ext cx="73152" cy="1188720"/>
          </a:xfrm>
          <a:prstGeom prst="rect">
            <a:avLst/>
          </a:prstGeom>
          <a:solidFill>
            <a:srgbClr val="43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85031" y="1472184"/>
            <a:ext cx="2240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E78"/>
                </a:solidFill>
              </a:defRPr>
            </a:pPr>
            <a:r>
              <a:t>Profit Median</a:t>
            </a:r>
          </a:p>
          <a:p>
            <a:pPr>
              <a:defRPr sz="2200" b="1">
                <a:solidFill>
                  <a:srgbClr val="1F3750"/>
                </a:solidFill>
              </a:defRPr>
            </a:pPr>
            <a:r>
              <a:t>$8.67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1325880"/>
            <a:ext cx="2514600" cy="118872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59" y="1325880"/>
            <a:ext cx="73152" cy="118872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1" y="1472184"/>
            <a:ext cx="2240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E78"/>
                </a:solidFill>
              </a:defRPr>
            </a:pPr>
            <a:r>
              <a:t>Sales ↔ Profit</a:t>
            </a:r>
          </a:p>
          <a:p>
            <a:pPr>
              <a:defRPr sz="2200" b="1">
                <a:solidFill>
                  <a:srgbClr val="1F3750"/>
                </a:solidFill>
              </a:defRPr>
            </a:pPr>
            <a:r>
              <a:t>0.48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1325880"/>
            <a:ext cx="2514600" cy="1188720"/>
          </a:xfrm>
          <a:prstGeom prst="roundRect">
            <a:avLst/>
          </a:prstGeom>
          <a:solidFill>
            <a:srgbClr val="F2F6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098280" y="1325880"/>
            <a:ext cx="73152" cy="1188720"/>
          </a:xfrm>
          <a:prstGeom prst="rect">
            <a:avLst/>
          </a:prstGeom>
          <a:solidFill>
            <a:srgbClr val="BE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62872" y="1472184"/>
            <a:ext cx="2240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6E78"/>
                </a:solidFill>
              </a:defRPr>
            </a:pPr>
            <a:r>
              <a:t>Discount ↔ Profit</a:t>
            </a:r>
          </a:p>
          <a:p>
            <a:pPr>
              <a:defRPr sz="2200" b="1">
                <a:solidFill>
                  <a:srgbClr val="1F3750"/>
                </a:solidFill>
              </a:defRPr>
            </a:pPr>
            <a:r>
              <a:t>-0.22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0632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282828"/>
                </a:solidFill>
              </a:defRPr>
            </a:pPr>
            <a:r>
              <a:t>• Sales and profit distributions are right-skewed because means are substantially higher than medians.</a:t>
            </a:r>
          </a:p>
          <a:p>
            <a:pPr>
              <a:spcAft>
                <a:spcPts val="1500"/>
              </a:spcAft>
              <a:defRPr sz="1800">
                <a:solidFill>
                  <a:srgbClr val="282828"/>
                </a:solidFill>
              </a:defRPr>
            </a:pPr>
            <a:r>
              <a:t>• Sales and profit show a positive correlation.</a:t>
            </a:r>
          </a:p>
          <a:p>
            <a:pPr>
              <a:spcAft>
                <a:spcPts val="1500"/>
              </a:spcAft>
              <a:defRPr sz="1800">
                <a:solidFill>
                  <a:srgbClr val="282828"/>
                </a:solidFill>
              </a:defRPr>
            </a:pPr>
            <a:r>
              <a:t>• Quantity and sales show a weak positive relationship.</a:t>
            </a:r>
          </a:p>
          <a:p>
            <a:pPr>
              <a:spcAft>
                <a:spcPts val="1500"/>
              </a:spcAft>
              <a:defRPr sz="1800">
                <a:solidFill>
                  <a:srgbClr val="282828"/>
                </a:solidFill>
              </a:defRPr>
            </a:pPr>
            <a:r>
              <a:t>• Discount and profit show a negative relationship.</a:t>
            </a:r>
          </a:p>
          <a:p>
            <a:pPr>
              <a:spcAft>
                <a:spcPts val="1500"/>
              </a:spcAft>
              <a:defRPr sz="1800">
                <a:solidFill>
                  <a:srgbClr val="282828"/>
                </a:solidFill>
              </a:defRPr>
            </a:pPr>
            <a:r>
              <a:t>• Correlation indicates association, not causation.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3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881360" y="6638544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015" y="320040"/>
            <a:ext cx="11449799" cy="632004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</a:defRPr>
            </a:pPr>
            <a:r>
              <a:t>Key Findings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0352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2F75B5"/>
                </a:solidFill>
              </a:defRPr>
            </a:pPr>
            <a:r>
              <a:t>KEY FINDINGS</a:t>
            </a:r>
          </a:p>
          <a:p>
            <a:pPr>
              <a:spcAft>
                <a:spcPts val="1000"/>
              </a:spcAft>
              <a:defRPr sz="1500">
                <a:solidFill>
                  <a:srgbClr val="282828"/>
                </a:solidFill>
              </a:defRPr>
            </a:pPr>
            <a:r>
              <a:t>• Technology leads category sales and profit.</a:t>
            </a:r>
          </a:p>
          <a:p>
            <a:pPr>
              <a:spcAft>
                <a:spcPts val="1000"/>
              </a:spcAft>
              <a:defRPr sz="1500">
                <a:solidFill>
                  <a:srgbClr val="282828"/>
                </a:solidFill>
              </a:defRPr>
            </a:pPr>
            <a:r>
              <a:t>• Furniture has a low 2.49% profit margin.</a:t>
            </a:r>
          </a:p>
          <a:p>
            <a:pPr>
              <a:spcAft>
                <a:spcPts val="1000"/>
              </a:spcAft>
              <a:defRPr sz="1500">
                <a:solidFill>
                  <a:srgbClr val="282828"/>
                </a:solidFill>
              </a:defRPr>
            </a:pPr>
            <a:r>
              <a:t>• West leads regional sales and profit.</a:t>
            </a:r>
          </a:p>
          <a:p>
            <a:pPr>
              <a:spcAft>
                <a:spcPts val="1000"/>
              </a:spcAft>
              <a:defRPr sz="1500">
                <a:solidFill>
                  <a:srgbClr val="282828"/>
                </a:solidFill>
              </a:defRPr>
            </a:pPr>
            <a:r>
              <a:t>• Several products and high-sales customers are loss-making.</a:t>
            </a:r>
          </a:p>
          <a:p>
            <a:pPr>
              <a:spcAft>
                <a:spcPts val="1000"/>
              </a:spcAft>
              <a:defRPr sz="1500">
                <a:solidFill>
                  <a:srgbClr val="282828"/>
                </a:solidFill>
              </a:defRPr>
            </a:pPr>
            <a:r>
              <a:t>• High discount levels are associated with weaker profitability.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34440"/>
            <a:ext cx="530352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439664"/>
                </a:solidFill>
              </a:defRPr>
            </a:pPr>
            <a:r>
              <a:t>RECOMMENDATIONS</a:t>
            </a:r>
          </a:p>
          <a:p>
            <a:pPr>
              <a:spcAft>
                <a:spcPts val="1000"/>
              </a:spcAft>
              <a:defRPr sz="1500">
                <a:solidFill>
                  <a:srgbClr val="282828"/>
                </a:solidFill>
              </a:defRPr>
            </a:pPr>
            <a:r>
              <a:t>• Review products with repeated negative profit.</a:t>
            </a:r>
          </a:p>
          <a:p>
            <a:pPr>
              <a:spcAft>
                <a:spcPts val="1000"/>
              </a:spcAft>
              <a:defRPr sz="1500">
                <a:solidFill>
                  <a:srgbClr val="282828"/>
                </a:solidFill>
              </a:defRPr>
            </a:pPr>
            <a:r>
              <a:t>• Monitor high-discount transactions with management thresholds.</a:t>
            </a:r>
          </a:p>
          <a:p>
            <a:pPr>
              <a:spcAft>
                <a:spcPts val="1000"/>
              </a:spcAft>
              <a:defRPr sz="1500">
                <a:solidFill>
                  <a:srgbClr val="282828"/>
                </a:solidFill>
              </a:defRPr>
            </a:pPr>
            <a:r>
              <a:t>• Evaluate low-margin Furniture products and sub-categories.</a:t>
            </a:r>
          </a:p>
          <a:p>
            <a:pPr>
              <a:spcAft>
                <a:spcPts val="1000"/>
              </a:spcAft>
              <a:defRPr sz="1500">
                <a:solidFill>
                  <a:srgbClr val="282828"/>
                </a:solidFill>
              </a:defRPr>
            </a:pPr>
            <a:r>
              <a:t>• Use both sales and profit when prioritizing customers/products.</a:t>
            </a:r>
          </a:p>
          <a:p>
            <a:pPr>
              <a:spcAft>
                <a:spcPts val="1000"/>
              </a:spcAft>
              <a:defRPr sz="1500">
                <a:solidFill>
                  <a:srgbClr val="282828"/>
                </a:solidFill>
              </a:defRPr>
            </a:pPr>
            <a:r>
              <a:t>• Track regional sales and profit regularly through Power BI.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3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81360" y="6638544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94560"/>
            <a:ext cx="941832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500"/>
              </a:spcAft>
              <a:defRPr sz="2300" b="1">
                <a:solidFill>
                  <a:srgbClr val="FFFFFF"/>
                </a:solidFill>
              </a:defRPr>
            </a:pPr>
            <a:r>
              <a:t>Sales volume alone does not fully describe business performance.</a:t>
            </a:r>
          </a:p>
          <a:p>
            <a:pPr algn="ctr">
              <a:spcAft>
                <a:spcPts val="1500"/>
              </a:spcAft>
              <a:defRPr sz="1800" b="0">
                <a:solidFill>
                  <a:srgbClr val="DCE6F0"/>
                </a:solidFill>
              </a:defRPr>
            </a:pPr>
            <a:r>
              <a:t>Profitability varies by category, region, product, customer and discount level.</a:t>
            </a:r>
          </a:p>
          <a:p>
            <a:pPr algn="ctr">
              <a:spcAft>
                <a:spcPts val="1500"/>
              </a:spcAft>
              <a:defRPr sz="1800" b="0">
                <a:solidFill>
                  <a:srgbClr val="DCE6F0"/>
                </a:solidFill>
              </a:defRPr>
            </a:pPr>
            <a:r>
              <a:t>The Power BI dashboard provides an interactive way to monitor these areas and support data-driven management decisions.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5074920"/>
            <a:ext cx="4846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Thank You • 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F3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81360" y="6638544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759</Words>
  <Application>Microsoft Office PowerPoint</Application>
  <PresentationFormat>Custom</PresentationFormat>
  <Paragraphs>155</Paragraphs>
  <Slides>13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NEHA KATUWAL</cp:lastModifiedBy>
  <cp:revision>2</cp:revision>
  <dcterms:created xsi:type="dcterms:W3CDTF">2013-01-27T09:14:16Z</dcterms:created>
  <dcterms:modified xsi:type="dcterms:W3CDTF">2026-09-23T04:52:03Z</dcterms:modified>
  <cp:category/>
</cp:coreProperties>
</file>