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9" d="100"/>
          <a:sy n="89" d="100"/>
        </p:scale>
        <p:origin x="-403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327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E-COMMERCE SALES &amp; CUSTOMER</a:t>
            </a:r>
            <a:br/>
            <a:r>
              <a:t>ANALYTICS SYSTEM</a:t>
            </a:r>
          </a:p>
          <a:p>
            <a:pPr algn="ctr">
              <a:defRPr sz="2000">
                <a:solidFill>
                  <a:srgbClr val="DCE6F0"/>
                </a:solidFill>
              </a:defRPr>
            </a:pPr>
            <a:r>
              <a:t>Final Business Analytics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3886200"/>
            <a:ext cx="6675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Prepared By: Srijan Poudel</a:t>
            </a:r>
          </a:p>
          <a:p>
            <a:pPr algn="ctr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Data Analytics Intern • SATRI</a:t>
            </a:r>
          </a:p>
          <a:p>
            <a:pPr algn="ctr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Excel • PostgreSQL • Python/Pandas • Power BI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81360" y="663854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What management needs to understand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</a:defRPr>
            </a:pPr>
            <a:r>
              <a:t>• What is driving sales and profit?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</a:defRPr>
            </a:pPr>
            <a:r>
              <a:t>• Which products and categories perform well or poorly?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</a:defRPr>
            </a:pPr>
            <a:r>
              <a:t>• Which customers provide greater value?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</a:defRPr>
            </a:pPr>
            <a:r>
              <a:t>• How do regions differ in sales and profitability?</a:t>
            </a:r>
          </a:p>
          <a:p>
            <a:pPr>
              <a:spcAft>
                <a:spcPts val="1500"/>
              </a:spcAft>
              <a:defRPr sz="2100">
                <a:solidFill>
                  <a:srgbClr val="282828"/>
                </a:solidFill>
              </a:defRPr>
            </a:pPr>
            <a:r>
              <a:t>• How are discounts related to sales and profit?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0" y="663854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t>Objectives &amp; Analytics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435607"/>
            <a:ext cx="493775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F75B5"/>
                </a:solidFill>
              </a:defRPr>
            </a:pPr>
            <a:r>
              <a:t>OBJECTIVES</a:t>
            </a:r>
          </a:p>
          <a:p>
            <a:pPr>
              <a:defRPr sz="2000" b="1">
                <a:solidFill>
                  <a:srgbClr val="1F3750"/>
                </a:solidFill>
              </a:defRPr>
            </a:pPr>
            <a:r>
              <a:t>Sales • Profit • Customers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Products, regions, trends, discounts and business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530352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715768"/>
            <a:ext cx="4937759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39664"/>
                </a:solidFill>
              </a:defRPr>
            </a:pPr>
            <a:r>
              <a:t>OUTPUT</a:t>
            </a:r>
          </a:p>
          <a:p>
            <a:pPr>
              <a:defRPr sz="2000" b="1">
                <a:solidFill>
                  <a:srgbClr val="1F3750"/>
                </a:solidFill>
              </a:defRPr>
            </a:pPr>
            <a:r>
              <a:t>Interactive Power BI Dashboard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Evidence-based insights and management recommendations.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150876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2148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F3750"/>
                </a:solidFill>
              </a:defRPr>
            </a:pPr>
            <a:r>
              <a:t>Excel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26060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E78"/>
                </a:solidFill>
              </a:defRPr>
            </a:pPr>
            <a:r>
              <a:t>Understand &amp; clean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150876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52359" y="2148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F3750"/>
                </a:solidFill>
              </a:defRPr>
            </a:pPr>
            <a:r>
              <a:t>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9" y="26060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E78"/>
                </a:solidFill>
              </a:defRPr>
            </a:pPr>
            <a:r>
              <a:t>Business SQL analysis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150876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0" y="2148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F3750"/>
                </a:solidFill>
              </a:defRPr>
            </a:pPr>
            <a: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6060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E78"/>
                </a:solidFill>
              </a:defRPr>
            </a:pPr>
            <a:r>
              <a:t>EDA &amp; statistics</a:t>
            </a:r>
          </a:p>
        </p:txBody>
      </p:sp>
      <p:sp>
        <p:nvSpPr>
          <p:cNvPr id="17" name="Oval 16"/>
          <p:cNvSpPr/>
          <p:nvPr/>
        </p:nvSpPr>
        <p:spPr>
          <a:xfrm>
            <a:off x="10378440" y="1508760"/>
            <a:ext cx="502920" cy="502920"/>
          </a:xfrm>
          <a:prstGeom prst="ellipse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04119" y="2148840"/>
            <a:ext cx="1097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F3750"/>
                </a:solidFill>
              </a:defRPr>
            </a:pPr>
            <a:r>
              <a:t>Power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2606040"/>
            <a:ext cx="137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E78"/>
                </a:solidFill>
              </a:defRPr>
            </a:pPr>
            <a:r>
              <a:t>Dashboard &amp; reporting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0" y="663854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t>Dataset &amp; Data Quality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82880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73152" cy="10515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472184"/>
            <a:ext cx="1554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Records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9,994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25880"/>
            <a:ext cx="182880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0" y="1325880"/>
            <a:ext cx="73152" cy="1051560"/>
          </a:xfrm>
          <a:prstGeom prst="rect">
            <a:avLst/>
          </a:prstGeom>
          <a:solidFill>
            <a:srgbClr val="43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07792" y="1472184"/>
            <a:ext cx="1554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Customers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793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325880"/>
            <a:ext cx="182880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46320" y="1325880"/>
            <a:ext cx="73152" cy="105156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10912" y="1472184"/>
            <a:ext cx="1554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Products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1,862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325880"/>
            <a:ext cx="182880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49440" y="1325880"/>
            <a:ext cx="73152" cy="105156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14031" y="1472184"/>
            <a:ext cx="1554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Categories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325880"/>
            <a:ext cx="182880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52560" y="1325880"/>
            <a:ext cx="73152" cy="1051560"/>
          </a:xfrm>
          <a:prstGeom prst="rect">
            <a:avLst/>
          </a:prstGeom>
          <a:solidFill>
            <a:srgbClr val="43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17152" y="1472184"/>
            <a:ext cx="1554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Regions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7432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82828"/>
                </a:solidFill>
              </a:defRPr>
            </a:pPr>
            <a:r>
              <a:t>• Coverage: January 2014 – December 2017</a:t>
            </a:r>
          </a:p>
          <a:p>
            <a:pPr>
              <a:spcAft>
                <a:spcPts val="1500"/>
              </a:spcAft>
              <a:defRPr sz="1700">
                <a:solidFill>
                  <a:srgbClr val="282828"/>
                </a:solidFill>
              </a:defRPr>
            </a:pPr>
            <a:r>
              <a:t>• 21 columns covering orders, customers, products, sales, discounts, profit and regions</a:t>
            </a:r>
          </a:p>
          <a:p>
            <a:pPr>
              <a:spcAft>
                <a:spcPts val="1500"/>
              </a:spcAft>
              <a:defRPr sz="1700">
                <a:solidFill>
                  <a:srgbClr val="282828"/>
                </a:solidFill>
              </a:defRPr>
            </a:pPr>
            <a:r>
              <a:t>• No missing values and no duplicate full rows</a:t>
            </a:r>
          </a:p>
          <a:p>
            <a:pPr>
              <a:spcAft>
                <a:spcPts val="1500"/>
              </a:spcAft>
              <a:defRPr sz="1700">
                <a:solidFill>
                  <a:srgbClr val="282828"/>
                </a:solidFill>
              </a:defRPr>
            </a:pPr>
            <a:r>
              <a:t>• Dates and numeric fields validated; invalid basic records were not identified</a:t>
            </a:r>
          </a:p>
          <a:p>
            <a:pPr>
              <a:spcAft>
                <a:spcPts val="1500"/>
              </a:spcAft>
              <a:defRPr sz="1700">
                <a:solidFill>
                  <a:srgbClr val="282828"/>
                </a:solidFill>
              </a:defRPr>
            </a:pPr>
            <a:r>
              <a:t>• Potential IQR outliers were documented rather than automatically removed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81360" y="663854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t>Overall Business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Key KPIs from the analyzed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3375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73152" cy="13258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563624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Total Sales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$2.30M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73152" cy="1325880"/>
          </a:xfrm>
          <a:prstGeom prst="rect">
            <a:avLst/>
          </a:prstGeom>
          <a:solidFill>
            <a:srgbClr val="43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1" y="1563624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Total Profit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$286.40K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3375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417320"/>
            <a:ext cx="73152" cy="132588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1563624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Orders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5,009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46120"/>
            <a:ext cx="33375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73152" cy="132588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3392424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Customers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793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246120"/>
            <a:ext cx="33375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34840" y="3246120"/>
            <a:ext cx="73152" cy="1325880"/>
          </a:xfrm>
          <a:prstGeom prst="rect">
            <a:avLst/>
          </a:prstGeom>
          <a:solidFill>
            <a:srgbClr val="43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99431" y="3392424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Average Order Value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$458.61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246120"/>
            <a:ext cx="333756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3246120"/>
            <a:ext cx="73152" cy="132588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02752" y="3392424"/>
            <a:ext cx="3063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Profit Margin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12.47%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0" y="663854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t>Sales &amp; Category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291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435607"/>
            <a:ext cx="29260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F75B5"/>
                </a:solidFill>
              </a:defRPr>
            </a:pPr>
            <a:r>
              <a:t>SALES TREND</a:t>
            </a:r>
          </a:p>
          <a:p>
            <a:pPr>
              <a:defRPr sz="2000" b="1">
                <a:solidFill>
                  <a:srgbClr val="1F3750"/>
                </a:solidFill>
              </a:defRPr>
            </a:pPr>
            <a:r>
              <a:t>$484K → $733K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Annual sales increased from 2014 to 2017.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25880"/>
            <a:ext cx="3291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720" y="1435607"/>
            <a:ext cx="29260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39664"/>
                </a:solidFill>
              </a:defRPr>
            </a:pPr>
            <a:r>
              <a:t>TOP CATEGORY</a:t>
            </a:r>
          </a:p>
          <a:p>
            <a:pPr>
              <a:defRPr sz="2000" b="1">
                <a:solidFill>
                  <a:srgbClr val="1F3750"/>
                </a:solidFill>
              </a:defRPr>
            </a:pPr>
            <a:r>
              <a:t>Technology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Highest category sales and profit.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25880"/>
            <a:ext cx="3291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435607"/>
            <a:ext cx="29260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9138"/>
                </a:solidFill>
              </a:defRPr>
            </a:pPr>
            <a:r>
              <a:t>WATCH</a:t>
            </a:r>
          </a:p>
          <a:p>
            <a:pPr>
              <a:defRPr sz="2000" b="1">
                <a:solidFill>
                  <a:srgbClr val="1F3750"/>
                </a:solidFill>
              </a:defRPr>
            </a:pPr>
            <a:r>
              <a:t>Furniture • 2.49%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Substantial sales but much lower profit margin.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82828"/>
                </a:solidFill>
              </a:defRPr>
            </a:pPr>
            <a:r>
              <a:t>• 2014 sales: approximately $484,248</a:t>
            </a:r>
          </a:p>
          <a:p>
            <a:pPr>
              <a:spcAft>
                <a:spcPts val="1500"/>
              </a:spcAft>
              <a:defRPr sz="1800">
                <a:solidFill>
                  <a:srgbClr val="282828"/>
                </a:solidFill>
              </a:defRPr>
            </a:pPr>
            <a:r>
              <a:t>• 2017 sales: approximately $733,215</a:t>
            </a:r>
          </a:p>
          <a:p>
            <a:pPr>
              <a:spcAft>
                <a:spcPts val="1500"/>
              </a:spcAft>
              <a:defRPr sz="1800">
                <a:solidFill>
                  <a:srgbClr val="282828"/>
                </a:solidFill>
              </a:defRPr>
            </a:pPr>
            <a:r>
              <a:t>• Technology sales: approximately $836,154</a:t>
            </a:r>
          </a:p>
          <a:p>
            <a:pPr>
              <a:spcAft>
                <a:spcPts val="1500"/>
              </a:spcAft>
              <a:defRPr sz="1800">
                <a:solidFill>
                  <a:srgbClr val="282828"/>
                </a:solidFill>
              </a:defRPr>
            </a:pPr>
            <a:r>
              <a:t>• Furniture sales: approximately $742,000, but only 2.49% profit margin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63854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t>Product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Sales volume does not always equal profitability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21208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435607"/>
            <a:ext cx="48463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F75B5"/>
                </a:solidFill>
              </a:defRPr>
            </a:pPr>
            <a:r>
              <a:t>TOP PRODUCT</a:t>
            </a:r>
          </a:p>
          <a:p>
            <a:pPr>
              <a:defRPr sz="2000" b="1">
                <a:solidFill>
                  <a:srgbClr val="1F3750"/>
                </a:solidFill>
              </a:defRPr>
            </a:pPr>
            <a:r>
              <a:t>Canon imageCLASS 2200 Advanced Copier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Highest-selling product and also highly profitable.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325880"/>
            <a:ext cx="521208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435607"/>
            <a:ext cx="48463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E4646"/>
                </a:solidFill>
              </a:defRPr>
            </a:pPr>
            <a:r>
              <a:t>SALES ≠ PROFIT</a:t>
            </a:r>
          </a:p>
          <a:p>
            <a:pPr>
              <a:defRPr sz="2000" b="1">
                <a:solidFill>
                  <a:srgbClr val="1F3750"/>
                </a:solidFill>
              </a:defRPr>
            </a:pPr>
            <a:r>
              <a:t>Cisco TelePresence EX90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~$22.6K sales but ~-$1.81K profit.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282828"/>
                </a:solidFill>
              </a:defRPr>
            </a:pPr>
            <a:r>
              <a:t>• Cubify CubeX Double Head Print: ~-$8.88K profit</a:t>
            </a:r>
          </a:p>
          <a:p>
            <a:pPr>
              <a:spcAft>
                <a:spcPts val="1500"/>
              </a:spcAft>
              <a:defRPr sz="1700">
                <a:solidFill>
                  <a:srgbClr val="282828"/>
                </a:solidFill>
              </a:defRPr>
            </a:pPr>
            <a:r>
              <a:t>• Lexmark MX611dhe Monochrome Laser Printer: ~-$4.59K</a:t>
            </a:r>
          </a:p>
          <a:p>
            <a:pPr>
              <a:spcAft>
                <a:spcPts val="1500"/>
              </a:spcAft>
              <a:defRPr sz="1700">
                <a:solidFill>
                  <a:srgbClr val="282828"/>
                </a:solidFill>
              </a:defRPr>
            </a:pPr>
            <a:r>
              <a:t>• Cubify CubeX Triple Head Print: ~-$3.84K</a:t>
            </a:r>
          </a:p>
          <a:p>
            <a:pPr>
              <a:spcAft>
                <a:spcPts val="1500"/>
              </a:spcAft>
              <a:defRPr sz="1700">
                <a:solidFill>
                  <a:srgbClr val="282828"/>
                </a:solidFill>
              </a:defRPr>
            </a:pPr>
            <a:r>
              <a:t>• Product-level profitability should be monitored alongside sales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881360" y="663854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t>Customer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E78"/>
                </a:solidFill>
              </a:defRPr>
            </a:pPr>
            <a:r>
              <a:t>Understanding customer value beyond sales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1887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472184"/>
            <a:ext cx="2148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Unique Customers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793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2588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0" y="1325880"/>
            <a:ext cx="73152" cy="1188720"/>
          </a:xfrm>
          <a:prstGeom prst="rect">
            <a:avLst/>
          </a:prstGeom>
          <a:solidFill>
            <a:srgbClr val="43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9312" y="1472184"/>
            <a:ext cx="2148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Repeat Customers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781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73152" cy="118872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472184"/>
            <a:ext cx="2148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One-time Customers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325880"/>
            <a:ext cx="242316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961120" y="1325880"/>
            <a:ext cx="73152" cy="11887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25712" y="1472184"/>
            <a:ext cx="21488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Repeat Rate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98.49%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632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82828"/>
                </a:solidFill>
              </a:defRPr>
            </a:pPr>
            <a:r>
              <a:t>• Average customer spend: approximately $2,896.85</a:t>
            </a:r>
          </a:p>
          <a:p>
            <a:pPr>
              <a:spcAft>
                <a:spcPts val="1500"/>
              </a:spcAft>
              <a:defRPr sz="1800">
                <a:solidFill>
                  <a:srgbClr val="282828"/>
                </a:solidFill>
              </a:defRPr>
            </a:pPr>
            <a:r>
              <a:t>• High customer sales value does not necessarily imply high profitability</a:t>
            </a:r>
          </a:p>
          <a:p>
            <a:pPr>
              <a:spcAft>
                <a:spcPts val="1500"/>
              </a:spcAft>
              <a:defRPr sz="1800">
                <a:solidFill>
                  <a:srgbClr val="282828"/>
                </a:solidFill>
              </a:defRPr>
            </a:pPr>
            <a:r>
              <a:t>• Sean Miller had approximately $25,043 sales but recorded approximately $1,981 loss</a:t>
            </a:r>
          </a:p>
          <a:p>
            <a:pPr>
              <a:spcAft>
                <a:spcPts val="1500"/>
              </a:spcAft>
              <a:defRPr sz="1800">
                <a:solidFill>
                  <a:srgbClr val="282828"/>
                </a:solidFill>
              </a:defRPr>
            </a:pPr>
            <a:r>
              <a:t>• Customer evaluation should consider both sales and profit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881360" y="663854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t>Regional &amp; Discount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389888"/>
            <a:ext cx="31089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F75B5"/>
                </a:solidFill>
              </a:defRPr>
            </a:pPr>
            <a:r>
              <a:t>WEST</a:t>
            </a:r>
          </a:p>
          <a:p>
            <a:pPr>
              <a:defRPr sz="2000" b="1">
                <a:solidFill>
                  <a:srgbClr val="1F3750"/>
                </a:solidFill>
              </a:defRPr>
            </a:pPr>
            <a:r>
              <a:t>$725K Sales • $108K Profit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Highest sales and profit among the four regions.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8016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26280" y="1389888"/>
            <a:ext cx="31089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69138"/>
                </a:solidFill>
              </a:defRPr>
            </a:pPr>
            <a:r>
              <a:t>CENTRAL</a:t>
            </a:r>
          </a:p>
          <a:p>
            <a:pPr>
              <a:defRPr sz="2000" b="1">
                <a:solidFill>
                  <a:srgbClr val="1F3750"/>
                </a:solidFill>
              </a:defRPr>
            </a:pPr>
            <a:r>
              <a:t>7.92% Margin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Lowest regional profit margin.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280160"/>
            <a:ext cx="34747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389888"/>
            <a:ext cx="310896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BE4646"/>
                </a:solidFill>
              </a:defRPr>
            </a:pPr>
            <a:r>
              <a:t>HIGH DISCOUNTS</a:t>
            </a:r>
          </a:p>
          <a:p>
            <a:pPr>
              <a:defRPr sz="2000" b="1">
                <a:solidFill>
                  <a:srgbClr val="1F3750"/>
                </a:solidFill>
              </a:defRPr>
            </a:pPr>
            <a:r>
              <a:t>Negative Profit</a:t>
            </a:r>
          </a:p>
          <a:p>
            <a:pPr>
              <a:defRPr sz="1000">
                <a:solidFill>
                  <a:srgbClr val="282828"/>
                </a:solidFill>
              </a:defRPr>
            </a:pPr>
            <a:r>
              <a:t>Several high-discount groups recorded negative aggregate profit.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82828"/>
                </a:solidFill>
              </a:defRPr>
            </a:pPr>
            <a:r>
              <a:t>• West margin: 14.94% • East: 13.48% • South: 11.93% • Central: 7.92%</a:t>
            </a:r>
          </a:p>
          <a:p>
            <a:pPr>
              <a:spcAft>
                <a:spcPts val="1500"/>
              </a:spcAft>
              <a:defRPr sz="1600">
                <a:solidFill>
                  <a:srgbClr val="282828"/>
                </a:solidFill>
              </a:defRPr>
            </a:pPr>
            <a:r>
              <a:t>• 70% discount group: approximately -$40,075 profit</a:t>
            </a:r>
          </a:p>
          <a:p>
            <a:pPr>
              <a:spcAft>
                <a:spcPts val="1500"/>
              </a:spcAft>
              <a:defRPr sz="1600">
                <a:solidFill>
                  <a:srgbClr val="282828"/>
                </a:solidFill>
              </a:defRPr>
            </a:pPr>
            <a:r>
              <a:t>• 80% discount group: approximately -$30,539 profit</a:t>
            </a:r>
          </a:p>
          <a:p>
            <a:pPr>
              <a:spcAft>
                <a:spcPts val="1500"/>
              </a:spcAft>
              <a:defRPr sz="1600">
                <a:solidFill>
                  <a:srgbClr val="282828"/>
                </a:solidFill>
              </a:defRPr>
            </a:pPr>
            <a:r>
              <a:t>• Discount and profit show a negative relationship in the historical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881360" y="663854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t>Statistical &amp; Correlation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51460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" cy="1188720"/>
          </a:xfrm>
          <a:prstGeom prst="rect">
            <a:avLst/>
          </a:prstGeom>
          <a:solidFill>
            <a:srgbClr val="2F75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112" y="1472184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Sales Median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$54.49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325880"/>
            <a:ext cx="251460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520439" y="1325880"/>
            <a:ext cx="73152" cy="1188720"/>
          </a:xfrm>
          <a:prstGeom prst="rect">
            <a:avLst/>
          </a:prstGeom>
          <a:solidFill>
            <a:srgbClr val="439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85031" y="1472184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Profit Median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$8.67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325880"/>
            <a:ext cx="251460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59" y="1325880"/>
            <a:ext cx="73152" cy="1188720"/>
          </a:xfrm>
          <a:prstGeom prst="rect">
            <a:avLst/>
          </a:prstGeom>
          <a:solidFill>
            <a:srgbClr val="E6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1" y="1472184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Sales ↔ Profit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0.48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325880"/>
            <a:ext cx="251460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098280" y="1325880"/>
            <a:ext cx="73152" cy="1188720"/>
          </a:xfrm>
          <a:prstGeom prst="rect">
            <a:avLst/>
          </a:prstGeom>
          <a:solidFill>
            <a:srgbClr val="BE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62872" y="1472184"/>
            <a:ext cx="22402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</a:defRPr>
            </a:pPr>
            <a:r>
              <a:t>Discount ↔ Profit</a:t>
            </a:r>
          </a:p>
          <a:p>
            <a:pPr>
              <a:defRPr sz="2200" b="1">
                <a:solidFill>
                  <a:srgbClr val="1F3750"/>
                </a:solidFill>
              </a:defRPr>
            </a:pPr>
            <a:r>
              <a:t>-0.22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6324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282828"/>
                </a:solidFill>
              </a:defRPr>
            </a:pPr>
            <a:r>
              <a:t>• Sales and profit distributions are right-skewed because means are substantially higher than medians.</a:t>
            </a:r>
          </a:p>
          <a:p>
            <a:pPr>
              <a:spcAft>
                <a:spcPts val="1500"/>
              </a:spcAft>
              <a:defRPr sz="1800">
                <a:solidFill>
                  <a:srgbClr val="282828"/>
                </a:solidFill>
              </a:defRPr>
            </a:pPr>
            <a:r>
              <a:t>• Sales and profit show a positive correlation.</a:t>
            </a:r>
          </a:p>
          <a:p>
            <a:pPr>
              <a:spcAft>
                <a:spcPts val="1500"/>
              </a:spcAft>
              <a:defRPr sz="1800">
                <a:solidFill>
                  <a:srgbClr val="282828"/>
                </a:solidFill>
              </a:defRPr>
            </a:pPr>
            <a:r>
              <a:t>• Quantity and sales show a weak positive relationship.</a:t>
            </a:r>
          </a:p>
          <a:p>
            <a:pPr>
              <a:spcAft>
                <a:spcPts val="1500"/>
              </a:spcAft>
              <a:defRPr sz="1800">
                <a:solidFill>
                  <a:srgbClr val="282828"/>
                </a:solidFill>
              </a:defRPr>
            </a:pPr>
            <a:r>
              <a:t>• Discount and profit show a negative relationship.</a:t>
            </a:r>
          </a:p>
          <a:p>
            <a:pPr>
              <a:spcAft>
                <a:spcPts val="1500"/>
              </a:spcAft>
              <a:defRPr sz="1800">
                <a:solidFill>
                  <a:srgbClr val="282828"/>
                </a:solidFill>
              </a:defRPr>
            </a:pPr>
            <a:r>
              <a:t>• Correlation indicates association, not causation.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81360" y="663854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14" y="357873"/>
            <a:ext cx="11264794" cy="63007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0"/>
                </a:solidFill>
              </a:defRPr>
            </a:pPr>
            <a:r>
              <a:t>Key Findings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F75B5"/>
                </a:solidFill>
              </a:defRPr>
            </a:pPr>
            <a:r>
              <a:t>KEY FINDINGS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• Technology leads category sales and profit.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• Furniture has a low 2.49% profit margin.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• West leads regional sales and profit.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• Several products and high-sales customers are loss-making.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• High discount levels are associated with weaker profitability.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34440"/>
            <a:ext cx="53035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439664"/>
                </a:solidFill>
              </a:defRPr>
            </a:pPr>
            <a:r>
              <a:t>RECOMMENDATIONS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• Review products with repeated negative profit.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• Monitor high-discount transactions with management thresholds.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• Evaluate low-margin Furniture products and sub-categories.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• Use both sales and profit when prioritizing customers/products.</a:t>
            </a:r>
          </a:p>
          <a:p>
            <a:pPr>
              <a:spcAft>
                <a:spcPts val="1000"/>
              </a:spcAft>
              <a:defRPr sz="1500">
                <a:solidFill>
                  <a:srgbClr val="282828"/>
                </a:solidFill>
              </a:defRPr>
            </a:pPr>
            <a:r>
              <a:t>• Track regional sales and profit regularly through Power BI.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0" y="663854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418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500"/>
              </a:spcAft>
              <a:defRPr sz="2300" b="1">
                <a:solidFill>
                  <a:srgbClr val="FFFFFF"/>
                </a:solidFill>
              </a:defRPr>
            </a:pPr>
            <a:r>
              <a:t>Sales volume alone does not fully describe business performance.</a:t>
            </a:r>
          </a:p>
          <a:p>
            <a:pPr algn="ctr">
              <a:spcAft>
                <a:spcPts val="1500"/>
              </a:spcAft>
              <a:defRPr sz="1800" b="0">
                <a:solidFill>
                  <a:srgbClr val="DCE6F0"/>
                </a:solidFill>
              </a:defRPr>
            </a:pPr>
            <a:r>
              <a:t>Profitability varies by category, region, product, customer and discount level.</a:t>
            </a:r>
          </a:p>
          <a:p>
            <a:pPr algn="ctr">
              <a:spcAft>
                <a:spcPts val="1500"/>
              </a:spcAft>
              <a:defRPr sz="1800" b="0">
                <a:solidFill>
                  <a:srgbClr val="DCE6F0"/>
                </a:solidFill>
              </a:defRPr>
            </a:pPr>
            <a:r>
              <a:t>The Power BI dashboard provides an interactive way to monitor these areas and support data-driven management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074920"/>
            <a:ext cx="4846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Thank You • 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881360" y="663854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759</Words>
  <Application>Microsoft Office PowerPoint</Application>
  <PresentationFormat>Custom</PresentationFormat>
  <Paragraphs>155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NEHA KATUWAL</cp:lastModifiedBy>
  <cp:revision>3</cp:revision>
  <dcterms:created xsi:type="dcterms:W3CDTF">2013-01-27T09:14:16Z</dcterms:created>
  <dcterms:modified xsi:type="dcterms:W3CDTF">2026-09-25T07:22:11Z</dcterms:modified>
  <cp:category/>
</cp:coreProperties>
</file>